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288" y="-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D73AD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6242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73AD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26242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73AD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D73AD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1846" y="1604740"/>
            <a:ext cx="10146306" cy="553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D73AD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846" y="3101270"/>
            <a:ext cx="5655310" cy="152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26242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09-Dec-24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1846" y="1728565"/>
            <a:ext cx="4942840" cy="11061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5"/>
              </a:spcBef>
            </a:pPr>
            <a:r>
              <a:rPr spc="-85" dirty="0"/>
              <a:t>WildSense:</a:t>
            </a:r>
            <a:r>
              <a:rPr spc="-90" dirty="0"/>
              <a:t> Smart </a:t>
            </a:r>
            <a:r>
              <a:rPr spc="-50" dirty="0"/>
              <a:t>Species </a:t>
            </a:r>
            <a:r>
              <a:rPr spc="-10" dirty="0"/>
              <a:t>Detection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55"/>
              </a:spcBef>
            </a:pPr>
            <a:r>
              <a:rPr spc="-10" dirty="0"/>
              <a:t>WildSense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machine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55" dirty="0"/>
              <a:t> </a:t>
            </a:r>
            <a:r>
              <a:rPr spc="-10" dirty="0"/>
              <a:t>project</a:t>
            </a:r>
            <a:r>
              <a:rPr spc="-55" dirty="0"/>
              <a:t> </a:t>
            </a:r>
            <a:r>
              <a:rPr spc="-20" dirty="0"/>
              <a:t>for</a:t>
            </a:r>
            <a:r>
              <a:rPr spc="-55" dirty="0"/>
              <a:t> </a:t>
            </a:r>
            <a:r>
              <a:rPr dirty="0"/>
              <a:t>animal</a:t>
            </a:r>
            <a:r>
              <a:rPr spc="-55" dirty="0"/>
              <a:t> </a:t>
            </a:r>
            <a:r>
              <a:rPr spc="-10" dirty="0"/>
              <a:t>identification,</a:t>
            </a:r>
            <a:r>
              <a:rPr spc="-55" dirty="0"/>
              <a:t> </a:t>
            </a:r>
            <a:r>
              <a:rPr spc="-10" dirty="0"/>
              <a:t>developed </a:t>
            </a:r>
            <a:r>
              <a:rPr dirty="0"/>
              <a:t>by</a:t>
            </a:r>
            <a:r>
              <a:rPr spc="-60" dirty="0"/>
              <a:t> </a:t>
            </a:r>
            <a:r>
              <a:rPr dirty="0" err="1"/>
              <a:t>Roop</a:t>
            </a:r>
            <a:r>
              <a:rPr spc="-60" dirty="0"/>
              <a:t> </a:t>
            </a:r>
            <a:r>
              <a:rPr lang="en-US" spc="-10" dirty="0"/>
              <a:t>N</a:t>
            </a:r>
            <a:r>
              <a:rPr spc="-10" dirty="0" smtClean="0"/>
              <a:t>arayan</a:t>
            </a:r>
            <a:r>
              <a:rPr spc="-60" dirty="0" smtClean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lang="en-US" dirty="0" err="1"/>
              <a:t>A</a:t>
            </a:r>
            <a:r>
              <a:rPr dirty="0" err="1" smtClean="0"/>
              <a:t>yush</a:t>
            </a:r>
            <a:r>
              <a:rPr spc="-60" dirty="0" smtClean="0"/>
              <a:t> </a:t>
            </a:r>
            <a:r>
              <a:rPr dirty="0"/>
              <a:t>,</a:t>
            </a:r>
            <a:r>
              <a:rPr spc="-6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lang="en-US" dirty="0"/>
              <a:t>D</a:t>
            </a:r>
            <a:r>
              <a:rPr dirty="0" smtClean="0"/>
              <a:t>eep</a:t>
            </a:r>
            <a:r>
              <a:rPr spc="-55" dirty="0" smtClean="0"/>
              <a:t> </a:t>
            </a:r>
            <a:r>
              <a:rPr dirty="0"/>
              <a:t>learning</a:t>
            </a:r>
            <a:r>
              <a:rPr spc="-60" dirty="0"/>
              <a:t> </a:t>
            </a:r>
            <a:r>
              <a:rPr dirty="0"/>
              <a:t>techniques</a:t>
            </a:r>
            <a:r>
              <a:rPr spc="-60" dirty="0"/>
              <a:t> </a:t>
            </a:r>
            <a:r>
              <a:rPr spc="-10" dirty="0"/>
              <a:t>to</a:t>
            </a:r>
            <a:r>
              <a:rPr spc="-60" dirty="0"/>
              <a:t> </a:t>
            </a:r>
            <a:r>
              <a:rPr spc="-10" dirty="0"/>
              <a:t>identify </a:t>
            </a:r>
            <a:r>
              <a:rPr dirty="0"/>
              <a:t>animals</a:t>
            </a:r>
            <a:r>
              <a:rPr spc="-5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images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videos.</a:t>
            </a:r>
            <a:r>
              <a:rPr spc="-50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presentation</a:t>
            </a:r>
            <a:r>
              <a:rPr spc="-50" dirty="0"/>
              <a:t> </a:t>
            </a:r>
            <a:r>
              <a:rPr dirty="0"/>
              <a:t>will</a:t>
            </a:r>
            <a:r>
              <a:rPr spc="-50" dirty="0"/>
              <a:t> </a:t>
            </a:r>
            <a:r>
              <a:rPr spc="-10" dirty="0"/>
              <a:t>explore</a:t>
            </a:r>
            <a:r>
              <a:rPr spc="-55" dirty="0"/>
              <a:t> </a:t>
            </a:r>
            <a:r>
              <a:rPr spc="-10" dirty="0"/>
              <a:t>the</a:t>
            </a:r>
            <a:r>
              <a:rPr spc="-50" dirty="0"/>
              <a:t> </a:t>
            </a:r>
            <a:r>
              <a:rPr spc="-10" dirty="0"/>
              <a:t>project's </a:t>
            </a:r>
            <a:r>
              <a:rPr spc="-15" dirty="0"/>
              <a:t>workflow,</a:t>
            </a:r>
            <a:r>
              <a:rPr spc="-55" dirty="0"/>
              <a:t> </a:t>
            </a:r>
            <a:r>
              <a:rPr spc="-10" dirty="0"/>
              <a:t>data</a:t>
            </a:r>
            <a:r>
              <a:rPr spc="-55" dirty="0"/>
              <a:t> </a:t>
            </a:r>
            <a:r>
              <a:rPr dirty="0"/>
              <a:t>processing,</a:t>
            </a:r>
            <a:r>
              <a:rPr spc="-5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spc="-10" dirty="0"/>
              <a:t>training,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35" dirty="0"/>
              <a:t>real-</a:t>
            </a:r>
            <a:r>
              <a:rPr spc="-10" dirty="0"/>
              <a:t>time</a:t>
            </a:r>
            <a:r>
              <a:rPr spc="-55" dirty="0"/>
              <a:t> </a:t>
            </a:r>
            <a:r>
              <a:rPr spc="-10" dirty="0"/>
              <a:t>detection capabilities.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8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846" y="2634392"/>
            <a:ext cx="2095500" cy="1359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700" b="1" spc="-30" dirty="0">
                <a:solidFill>
                  <a:srgbClr val="D73AD7"/>
                </a:solidFill>
                <a:latin typeface="Cambria"/>
                <a:cs typeface="Cambria"/>
              </a:rPr>
              <a:t>Deep</a:t>
            </a:r>
            <a:r>
              <a:rPr sz="1700" b="1" spc="-55" dirty="0">
                <a:solidFill>
                  <a:srgbClr val="D73AD7"/>
                </a:solidFill>
                <a:latin typeface="Cambria"/>
                <a:cs typeface="Cambria"/>
              </a:rPr>
              <a:t> </a:t>
            </a:r>
            <a:r>
              <a:rPr sz="1700" b="1" spc="-25" dirty="0">
                <a:solidFill>
                  <a:srgbClr val="D73AD7"/>
                </a:solidFill>
                <a:latin typeface="Cambria"/>
                <a:cs typeface="Cambria"/>
              </a:rPr>
              <a:t>Learning</a:t>
            </a:r>
            <a:r>
              <a:rPr sz="1700" b="1" spc="-50" dirty="0">
                <a:solidFill>
                  <a:srgbClr val="D73AD7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D73AD7"/>
                </a:solidFill>
                <a:latin typeface="Cambria"/>
                <a:cs typeface="Cambria"/>
              </a:rPr>
              <a:t>Power</a:t>
            </a:r>
            <a:endParaRPr sz="1700">
              <a:latin typeface="Cambria"/>
              <a:cs typeface="Cambria"/>
            </a:endParaRPr>
          </a:p>
          <a:p>
            <a:pPr marL="12700" marR="5080" algn="just">
              <a:lnSpc>
                <a:spcPct val="133600"/>
              </a:lnSpc>
              <a:spcBef>
                <a:spcPts val="1450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WildSense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leverages</a:t>
            </a:r>
            <a:r>
              <a:rPr sz="1450" spc="-3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deep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learning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solidFill>
                  <a:srgbClr val="262424"/>
                </a:solidFill>
                <a:latin typeface="Calibri"/>
                <a:cs typeface="Calibri"/>
              </a:rPr>
              <a:t>to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analyze</a:t>
            </a:r>
            <a:r>
              <a:rPr sz="1450" spc="-3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images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identify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species.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5599" y="2634392"/>
            <a:ext cx="2106930" cy="19405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88950">
              <a:lnSpc>
                <a:spcPts val="2180"/>
              </a:lnSpc>
              <a:spcBef>
                <a:spcPts val="85"/>
              </a:spcBef>
            </a:pPr>
            <a:r>
              <a:rPr sz="1700" b="1" spc="-20" dirty="0">
                <a:solidFill>
                  <a:srgbClr val="D73AD7"/>
                </a:solidFill>
                <a:latin typeface="Cambria"/>
                <a:cs typeface="Cambria"/>
              </a:rPr>
              <a:t>Image</a:t>
            </a:r>
            <a:r>
              <a:rPr sz="1700" b="1" spc="-45" dirty="0">
                <a:solidFill>
                  <a:srgbClr val="D73AD7"/>
                </a:solidFill>
                <a:latin typeface="Cambria"/>
                <a:cs typeface="Cambria"/>
              </a:rPr>
              <a:t> </a:t>
            </a:r>
            <a:r>
              <a:rPr sz="1700" b="1" spc="-35" dirty="0">
                <a:solidFill>
                  <a:srgbClr val="D73AD7"/>
                </a:solidFill>
                <a:latin typeface="Cambria"/>
                <a:cs typeface="Cambria"/>
              </a:rPr>
              <a:t>and</a:t>
            </a:r>
            <a:r>
              <a:rPr sz="1700" b="1" spc="-90" dirty="0">
                <a:solidFill>
                  <a:srgbClr val="D73AD7"/>
                </a:solidFill>
                <a:latin typeface="Cambria"/>
                <a:cs typeface="Cambria"/>
              </a:rPr>
              <a:t> </a:t>
            </a:r>
            <a:r>
              <a:rPr sz="1700" b="1" spc="-30" dirty="0">
                <a:solidFill>
                  <a:srgbClr val="D73AD7"/>
                </a:solidFill>
                <a:latin typeface="Cambria"/>
                <a:cs typeface="Cambria"/>
              </a:rPr>
              <a:t>Video </a:t>
            </a:r>
            <a:r>
              <a:rPr sz="1700" b="1" spc="-10" dirty="0">
                <a:solidFill>
                  <a:srgbClr val="D73AD7"/>
                </a:solidFill>
                <a:latin typeface="Cambria"/>
                <a:cs typeface="Cambria"/>
              </a:rPr>
              <a:t>Analysis</a:t>
            </a:r>
            <a:endParaRPr sz="1700">
              <a:latin typeface="Cambria"/>
              <a:cs typeface="Cambria"/>
            </a:endParaRPr>
          </a:p>
          <a:p>
            <a:pPr marL="12700" marR="5080" algn="just">
              <a:lnSpc>
                <a:spcPct val="136500"/>
              </a:lnSpc>
              <a:spcBef>
                <a:spcPts val="1225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system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works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with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both static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images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live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video feeds,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offering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versatility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for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various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applications.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9353" y="2634392"/>
            <a:ext cx="2199005" cy="19405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32155">
              <a:lnSpc>
                <a:spcPts val="2180"/>
              </a:lnSpc>
              <a:spcBef>
                <a:spcPts val="85"/>
              </a:spcBef>
            </a:pPr>
            <a:r>
              <a:rPr sz="1700" b="1" spc="-55" dirty="0">
                <a:solidFill>
                  <a:srgbClr val="D73AD7"/>
                </a:solidFill>
                <a:latin typeface="Cambria"/>
                <a:cs typeface="Cambria"/>
              </a:rPr>
              <a:t>Trained </a:t>
            </a:r>
            <a:r>
              <a:rPr sz="1700" b="1" spc="-30" dirty="0">
                <a:solidFill>
                  <a:srgbClr val="D73AD7"/>
                </a:solidFill>
                <a:latin typeface="Cambria"/>
                <a:cs typeface="Cambria"/>
              </a:rPr>
              <a:t>Neural </a:t>
            </a:r>
            <a:r>
              <a:rPr sz="1700" b="1" spc="-10" dirty="0">
                <a:solidFill>
                  <a:srgbClr val="D73AD7"/>
                </a:solidFill>
                <a:latin typeface="Cambria"/>
                <a:cs typeface="Cambria"/>
              </a:rPr>
              <a:t>Network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6500"/>
              </a:lnSpc>
              <a:spcBef>
                <a:spcPts val="1225"/>
              </a:spcBef>
            </a:pP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A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trained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neural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network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acts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as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core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of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system,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analyzing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visual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features</a:t>
            </a:r>
            <a:r>
              <a:rPr sz="1450" spc="-3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to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classify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animals.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3106" y="2634392"/>
            <a:ext cx="2086610" cy="1359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50" dirty="0">
                <a:solidFill>
                  <a:srgbClr val="D73AD7"/>
                </a:solidFill>
                <a:latin typeface="Cambria"/>
                <a:cs typeface="Cambria"/>
              </a:rPr>
              <a:t>Tech</a:t>
            </a:r>
            <a:r>
              <a:rPr sz="1700" b="1" spc="-60" dirty="0">
                <a:solidFill>
                  <a:srgbClr val="D73AD7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D73AD7"/>
                </a:solidFill>
                <a:latin typeface="Cambria"/>
                <a:cs typeface="Cambria"/>
              </a:rPr>
              <a:t>Stack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1450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Technologies</a:t>
            </a:r>
            <a:r>
              <a:rPr sz="1450" spc="-1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used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 include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TensorFlow,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Keras,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OpenCV,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NumPy,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3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Python.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28095" y="528415"/>
            <a:ext cx="3350895" cy="553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10" dirty="0"/>
              <a:t>Project</a:t>
            </a:r>
            <a:r>
              <a:rPr spc="-165" dirty="0"/>
              <a:t> </a:t>
            </a:r>
            <a:r>
              <a:rPr spc="-105" dirty="0"/>
              <a:t>Workflow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09337" y="1409699"/>
            <a:ext cx="1057275" cy="4448175"/>
            <a:chOff x="5009337" y="1409699"/>
            <a:chExt cx="1057275" cy="4448175"/>
          </a:xfrm>
        </p:grpSpPr>
        <p:sp>
          <p:nvSpPr>
            <p:cNvPr id="5" name="object 5"/>
            <p:cNvSpPr/>
            <p:nvPr/>
          </p:nvSpPr>
          <p:spPr>
            <a:xfrm>
              <a:off x="5210175" y="1409699"/>
              <a:ext cx="856615" cy="4448175"/>
            </a:xfrm>
            <a:custGeom>
              <a:avLst/>
              <a:gdLst/>
              <a:ahLst/>
              <a:cxnLst/>
              <a:rect l="l" t="t" r="r" b="b"/>
              <a:pathLst>
                <a:path w="856614" h="444817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14" y="4648"/>
                  </a:lnTo>
                  <a:lnTo>
                    <a:pt x="0" y="6896"/>
                  </a:lnTo>
                  <a:lnTo>
                    <a:pt x="0" y="4438662"/>
                  </a:lnTo>
                  <a:lnTo>
                    <a:pt x="0" y="4441291"/>
                  </a:lnTo>
                  <a:lnTo>
                    <a:pt x="914" y="4443527"/>
                  </a:lnTo>
                  <a:lnTo>
                    <a:pt x="4648" y="4447248"/>
                  </a:lnTo>
                  <a:lnTo>
                    <a:pt x="6896" y="4448175"/>
                  </a:lnTo>
                  <a:lnTo>
                    <a:pt x="12153" y="4448175"/>
                  </a:lnTo>
                  <a:lnTo>
                    <a:pt x="14401" y="4447248"/>
                  </a:lnTo>
                  <a:lnTo>
                    <a:pt x="18122" y="4443527"/>
                  </a:lnTo>
                  <a:lnTo>
                    <a:pt x="19050" y="4441291"/>
                  </a:lnTo>
                  <a:lnTo>
                    <a:pt x="19050" y="6896"/>
                  </a:lnTo>
                  <a:close/>
                </a:path>
                <a:path w="856614" h="4448175">
                  <a:moveTo>
                    <a:pt x="856424" y="416471"/>
                  </a:moveTo>
                  <a:lnTo>
                    <a:pt x="855497" y="414223"/>
                  </a:lnTo>
                  <a:lnTo>
                    <a:pt x="851789" y="410502"/>
                  </a:lnTo>
                  <a:lnTo>
                    <a:pt x="849541" y="409575"/>
                  </a:lnTo>
                  <a:lnTo>
                    <a:pt x="206108" y="409575"/>
                  </a:lnTo>
                  <a:lnTo>
                    <a:pt x="203860" y="410502"/>
                  </a:lnTo>
                  <a:lnTo>
                    <a:pt x="200139" y="414223"/>
                  </a:lnTo>
                  <a:lnTo>
                    <a:pt x="199199" y="416471"/>
                  </a:lnTo>
                  <a:lnTo>
                    <a:pt x="199199" y="419100"/>
                  </a:lnTo>
                  <a:lnTo>
                    <a:pt x="199199" y="421728"/>
                  </a:lnTo>
                  <a:lnTo>
                    <a:pt x="200139" y="423976"/>
                  </a:lnTo>
                  <a:lnTo>
                    <a:pt x="203860" y="427697"/>
                  </a:lnTo>
                  <a:lnTo>
                    <a:pt x="206108" y="428625"/>
                  </a:lnTo>
                  <a:lnTo>
                    <a:pt x="849541" y="428625"/>
                  </a:lnTo>
                  <a:lnTo>
                    <a:pt x="851789" y="427697"/>
                  </a:lnTo>
                  <a:lnTo>
                    <a:pt x="855497" y="423976"/>
                  </a:lnTo>
                  <a:lnTo>
                    <a:pt x="856424" y="421728"/>
                  </a:lnTo>
                  <a:lnTo>
                    <a:pt x="856424" y="416471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14099" y="16240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20" y="0"/>
                  </a:moveTo>
                  <a:lnTo>
                    <a:pt x="52641" y="0"/>
                  </a:lnTo>
                  <a:lnTo>
                    <a:pt x="44894" y="1536"/>
                  </a:lnTo>
                  <a:lnTo>
                    <a:pt x="12077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56" y="397497"/>
                  </a:lnTo>
                  <a:lnTo>
                    <a:pt x="52641" y="409574"/>
                  </a:lnTo>
                  <a:lnTo>
                    <a:pt x="356920" y="409574"/>
                  </a:lnTo>
                  <a:lnTo>
                    <a:pt x="397484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20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8861" y="1628775"/>
              <a:ext cx="400049" cy="4000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14099" y="16240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1" y="52755"/>
                  </a:lnTo>
                  <a:lnTo>
                    <a:pt x="17767" y="17780"/>
                  </a:lnTo>
                  <a:lnTo>
                    <a:pt x="20586" y="14960"/>
                  </a:lnTo>
                  <a:lnTo>
                    <a:pt x="23647" y="12446"/>
                  </a:lnTo>
                  <a:lnTo>
                    <a:pt x="26962" y="10236"/>
                  </a:lnTo>
                  <a:lnTo>
                    <a:pt x="30276" y="8013"/>
                  </a:lnTo>
                  <a:lnTo>
                    <a:pt x="33782" y="6146"/>
                  </a:lnTo>
                  <a:lnTo>
                    <a:pt x="37465" y="4622"/>
                  </a:lnTo>
                  <a:lnTo>
                    <a:pt x="41148" y="3098"/>
                  </a:lnTo>
                  <a:lnTo>
                    <a:pt x="44945" y="1943"/>
                  </a:lnTo>
                  <a:lnTo>
                    <a:pt x="48844" y="1168"/>
                  </a:lnTo>
                  <a:lnTo>
                    <a:pt x="52755" y="393"/>
                  </a:lnTo>
                  <a:lnTo>
                    <a:pt x="56705" y="0"/>
                  </a:lnTo>
                  <a:lnTo>
                    <a:pt x="60680" y="0"/>
                  </a:lnTo>
                  <a:lnTo>
                    <a:pt x="348881" y="0"/>
                  </a:lnTo>
                  <a:lnTo>
                    <a:pt x="352856" y="0"/>
                  </a:lnTo>
                  <a:lnTo>
                    <a:pt x="356806" y="393"/>
                  </a:lnTo>
                  <a:lnTo>
                    <a:pt x="382600" y="10236"/>
                  </a:lnTo>
                  <a:lnTo>
                    <a:pt x="385914" y="12446"/>
                  </a:lnTo>
                  <a:lnTo>
                    <a:pt x="388975" y="14960"/>
                  </a:lnTo>
                  <a:lnTo>
                    <a:pt x="391795" y="17780"/>
                  </a:lnTo>
                  <a:lnTo>
                    <a:pt x="394614" y="20599"/>
                  </a:lnTo>
                  <a:lnTo>
                    <a:pt x="404952" y="37465"/>
                  </a:lnTo>
                  <a:lnTo>
                    <a:pt x="406476" y="41148"/>
                  </a:lnTo>
                  <a:lnTo>
                    <a:pt x="407619" y="44945"/>
                  </a:lnTo>
                  <a:lnTo>
                    <a:pt x="408406" y="48856"/>
                  </a:lnTo>
                  <a:lnTo>
                    <a:pt x="409181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81" y="356806"/>
                  </a:lnTo>
                  <a:lnTo>
                    <a:pt x="408406" y="360718"/>
                  </a:lnTo>
                  <a:lnTo>
                    <a:pt x="407619" y="364629"/>
                  </a:lnTo>
                  <a:lnTo>
                    <a:pt x="406476" y="368427"/>
                  </a:lnTo>
                  <a:lnTo>
                    <a:pt x="404952" y="372110"/>
                  </a:lnTo>
                  <a:lnTo>
                    <a:pt x="403428" y="375793"/>
                  </a:lnTo>
                  <a:lnTo>
                    <a:pt x="401548" y="379285"/>
                  </a:lnTo>
                  <a:lnTo>
                    <a:pt x="399338" y="382600"/>
                  </a:lnTo>
                  <a:lnTo>
                    <a:pt x="397129" y="385914"/>
                  </a:lnTo>
                  <a:lnTo>
                    <a:pt x="364617" y="407631"/>
                  </a:lnTo>
                  <a:lnTo>
                    <a:pt x="352856" y="409575"/>
                  </a:lnTo>
                  <a:lnTo>
                    <a:pt x="348881" y="409575"/>
                  </a:lnTo>
                  <a:lnTo>
                    <a:pt x="60680" y="409575"/>
                  </a:lnTo>
                  <a:lnTo>
                    <a:pt x="56705" y="409575"/>
                  </a:lnTo>
                  <a:lnTo>
                    <a:pt x="52755" y="409181"/>
                  </a:lnTo>
                  <a:lnTo>
                    <a:pt x="17767" y="391795"/>
                  </a:lnTo>
                  <a:lnTo>
                    <a:pt x="381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42484" y="1618837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7039" y="1558067"/>
            <a:ext cx="4193540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45" dirty="0">
                <a:solidFill>
                  <a:srgbClr val="262424"/>
                </a:solidFill>
                <a:latin typeface="Cambria"/>
                <a:cs typeface="Cambria"/>
              </a:rPr>
              <a:t>Data</a:t>
            </a:r>
            <a:r>
              <a:rPr sz="1700" b="1" spc="-55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Preparation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Start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with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collecting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augmenting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images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of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different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species.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09337" y="3162299"/>
            <a:ext cx="1057275" cy="419100"/>
            <a:chOff x="5009337" y="3162299"/>
            <a:chExt cx="1057275" cy="419100"/>
          </a:xfrm>
        </p:grpSpPr>
        <p:sp>
          <p:nvSpPr>
            <p:cNvPr id="12" name="object 12"/>
            <p:cNvSpPr/>
            <p:nvPr/>
          </p:nvSpPr>
          <p:spPr>
            <a:xfrm>
              <a:off x="5409387" y="3362324"/>
              <a:ext cx="657225" cy="19050"/>
            </a:xfrm>
            <a:custGeom>
              <a:avLst/>
              <a:gdLst/>
              <a:ahLst/>
              <a:cxnLst/>
              <a:rect l="l" t="t" r="r" b="b"/>
              <a:pathLst>
                <a:path w="657225" h="19050">
                  <a:moveTo>
                    <a:pt x="6503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50328" y="19050"/>
                  </a:lnTo>
                  <a:lnTo>
                    <a:pt x="652576" y="18122"/>
                  </a:lnTo>
                  <a:lnTo>
                    <a:pt x="656285" y="14401"/>
                  </a:lnTo>
                  <a:lnTo>
                    <a:pt x="657225" y="12153"/>
                  </a:lnTo>
                  <a:lnTo>
                    <a:pt x="657225" y="6896"/>
                  </a:lnTo>
                  <a:lnTo>
                    <a:pt x="656285" y="4648"/>
                  </a:lnTo>
                  <a:lnTo>
                    <a:pt x="652576" y="927"/>
                  </a:lnTo>
                  <a:lnTo>
                    <a:pt x="650328" y="0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14099" y="31670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20" y="0"/>
                  </a:moveTo>
                  <a:lnTo>
                    <a:pt x="52641" y="0"/>
                  </a:lnTo>
                  <a:lnTo>
                    <a:pt x="44894" y="1536"/>
                  </a:lnTo>
                  <a:lnTo>
                    <a:pt x="12077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56" y="397484"/>
                  </a:lnTo>
                  <a:lnTo>
                    <a:pt x="52641" y="409574"/>
                  </a:lnTo>
                  <a:lnTo>
                    <a:pt x="356920" y="409574"/>
                  </a:lnTo>
                  <a:lnTo>
                    <a:pt x="397484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20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8861" y="3171825"/>
              <a:ext cx="400049" cy="4000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14099" y="31670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1" y="52755"/>
                  </a:lnTo>
                  <a:lnTo>
                    <a:pt x="17767" y="17780"/>
                  </a:lnTo>
                  <a:lnTo>
                    <a:pt x="20586" y="14960"/>
                  </a:lnTo>
                  <a:lnTo>
                    <a:pt x="37465" y="4622"/>
                  </a:lnTo>
                  <a:lnTo>
                    <a:pt x="41148" y="3098"/>
                  </a:lnTo>
                  <a:lnTo>
                    <a:pt x="44945" y="1943"/>
                  </a:lnTo>
                  <a:lnTo>
                    <a:pt x="48844" y="1168"/>
                  </a:lnTo>
                  <a:lnTo>
                    <a:pt x="52755" y="393"/>
                  </a:lnTo>
                  <a:lnTo>
                    <a:pt x="56705" y="0"/>
                  </a:lnTo>
                  <a:lnTo>
                    <a:pt x="60680" y="0"/>
                  </a:lnTo>
                  <a:lnTo>
                    <a:pt x="348881" y="0"/>
                  </a:lnTo>
                  <a:lnTo>
                    <a:pt x="352856" y="0"/>
                  </a:lnTo>
                  <a:lnTo>
                    <a:pt x="356806" y="393"/>
                  </a:lnTo>
                  <a:lnTo>
                    <a:pt x="391795" y="17780"/>
                  </a:lnTo>
                  <a:lnTo>
                    <a:pt x="394614" y="20599"/>
                  </a:lnTo>
                  <a:lnTo>
                    <a:pt x="404952" y="37465"/>
                  </a:lnTo>
                  <a:lnTo>
                    <a:pt x="406476" y="41148"/>
                  </a:lnTo>
                  <a:lnTo>
                    <a:pt x="407619" y="44945"/>
                  </a:lnTo>
                  <a:lnTo>
                    <a:pt x="408406" y="48856"/>
                  </a:lnTo>
                  <a:lnTo>
                    <a:pt x="409181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81" y="356806"/>
                  </a:lnTo>
                  <a:lnTo>
                    <a:pt x="391795" y="391795"/>
                  </a:lnTo>
                  <a:lnTo>
                    <a:pt x="356806" y="409181"/>
                  </a:lnTo>
                  <a:lnTo>
                    <a:pt x="352856" y="409575"/>
                  </a:lnTo>
                  <a:lnTo>
                    <a:pt x="348881" y="409575"/>
                  </a:lnTo>
                  <a:lnTo>
                    <a:pt x="60680" y="409575"/>
                  </a:lnTo>
                  <a:lnTo>
                    <a:pt x="56705" y="409575"/>
                  </a:lnTo>
                  <a:lnTo>
                    <a:pt x="52755" y="409181"/>
                  </a:lnTo>
                  <a:lnTo>
                    <a:pt x="48844" y="408406"/>
                  </a:lnTo>
                  <a:lnTo>
                    <a:pt x="44945" y="407631"/>
                  </a:lnTo>
                  <a:lnTo>
                    <a:pt x="41148" y="406476"/>
                  </a:lnTo>
                  <a:lnTo>
                    <a:pt x="37465" y="404952"/>
                  </a:lnTo>
                  <a:lnTo>
                    <a:pt x="33782" y="403428"/>
                  </a:lnTo>
                  <a:lnTo>
                    <a:pt x="6146" y="375793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42484" y="3171412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2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7039" y="3101117"/>
            <a:ext cx="4477385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25" dirty="0">
                <a:solidFill>
                  <a:srgbClr val="262424"/>
                </a:solidFill>
                <a:latin typeface="Cambria"/>
                <a:cs typeface="Cambria"/>
              </a:rPr>
              <a:t>Model</a:t>
            </a:r>
            <a:r>
              <a:rPr sz="1700" b="1" spc="-60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Training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Train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neural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network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using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prepared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dataset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to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learn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features.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009337" y="4714875"/>
            <a:ext cx="1057275" cy="419100"/>
            <a:chOff x="5009337" y="4714875"/>
            <a:chExt cx="1057275" cy="419100"/>
          </a:xfrm>
        </p:grpSpPr>
        <p:sp>
          <p:nvSpPr>
            <p:cNvPr id="19" name="object 19"/>
            <p:cNvSpPr/>
            <p:nvPr/>
          </p:nvSpPr>
          <p:spPr>
            <a:xfrm>
              <a:off x="5409387" y="4914900"/>
              <a:ext cx="657225" cy="19050"/>
            </a:xfrm>
            <a:custGeom>
              <a:avLst/>
              <a:gdLst/>
              <a:ahLst/>
              <a:cxnLst/>
              <a:rect l="l" t="t" r="r" b="b"/>
              <a:pathLst>
                <a:path w="657225" h="19050">
                  <a:moveTo>
                    <a:pt x="6503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50328" y="19050"/>
                  </a:lnTo>
                  <a:lnTo>
                    <a:pt x="652576" y="18122"/>
                  </a:lnTo>
                  <a:lnTo>
                    <a:pt x="656285" y="14401"/>
                  </a:lnTo>
                  <a:lnTo>
                    <a:pt x="657225" y="12153"/>
                  </a:lnTo>
                  <a:lnTo>
                    <a:pt x="657225" y="6896"/>
                  </a:lnTo>
                  <a:lnTo>
                    <a:pt x="656285" y="4648"/>
                  </a:lnTo>
                  <a:lnTo>
                    <a:pt x="652576" y="927"/>
                  </a:lnTo>
                  <a:lnTo>
                    <a:pt x="650328" y="0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14099" y="47196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20" y="0"/>
                  </a:moveTo>
                  <a:lnTo>
                    <a:pt x="52641" y="0"/>
                  </a:lnTo>
                  <a:lnTo>
                    <a:pt x="44894" y="1536"/>
                  </a:lnTo>
                  <a:lnTo>
                    <a:pt x="12077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56" y="397484"/>
                  </a:lnTo>
                  <a:lnTo>
                    <a:pt x="52641" y="409574"/>
                  </a:lnTo>
                  <a:lnTo>
                    <a:pt x="356920" y="409574"/>
                  </a:lnTo>
                  <a:lnTo>
                    <a:pt x="397484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20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8861" y="4724400"/>
              <a:ext cx="400049" cy="40004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14099" y="47196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1" y="52755"/>
                  </a:lnTo>
                  <a:lnTo>
                    <a:pt x="17767" y="17780"/>
                  </a:lnTo>
                  <a:lnTo>
                    <a:pt x="26962" y="10236"/>
                  </a:lnTo>
                  <a:lnTo>
                    <a:pt x="30276" y="8013"/>
                  </a:lnTo>
                  <a:lnTo>
                    <a:pt x="56705" y="0"/>
                  </a:lnTo>
                  <a:lnTo>
                    <a:pt x="60680" y="0"/>
                  </a:lnTo>
                  <a:lnTo>
                    <a:pt x="348881" y="0"/>
                  </a:lnTo>
                  <a:lnTo>
                    <a:pt x="352856" y="0"/>
                  </a:lnTo>
                  <a:lnTo>
                    <a:pt x="356806" y="393"/>
                  </a:lnTo>
                  <a:lnTo>
                    <a:pt x="382600" y="10236"/>
                  </a:lnTo>
                  <a:lnTo>
                    <a:pt x="385914" y="12446"/>
                  </a:lnTo>
                  <a:lnTo>
                    <a:pt x="407619" y="4494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81" y="356806"/>
                  </a:lnTo>
                  <a:lnTo>
                    <a:pt x="408406" y="360718"/>
                  </a:lnTo>
                  <a:lnTo>
                    <a:pt x="407619" y="364629"/>
                  </a:lnTo>
                  <a:lnTo>
                    <a:pt x="406476" y="368427"/>
                  </a:lnTo>
                  <a:lnTo>
                    <a:pt x="404952" y="372110"/>
                  </a:lnTo>
                  <a:lnTo>
                    <a:pt x="403428" y="375793"/>
                  </a:lnTo>
                  <a:lnTo>
                    <a:pt x="401548" y="379285"/>
                  </a:lnTo>
                  <a:lnTo>
                    <a:pt x="399338" y="382600"/>
                  </a:lnTo>
                  <a:lnTo>
                    <a:pt x="397129" y="385914"/>
                  </a:lnTo>
                  <a:lnTo>
                    <a:pt x="364617" y="407631"/>
                  </a:lnTo>
                  <a:lnTo>
                    <a:pt x="352856" y="409575"/>
                  </a:lnTo>
                  <a:lnTo>
                    <a:pt x="348881" y="409575"/>
                  </a:lnTo>
                  <a:lnTo>
                    <a:pt x="60680" y="409575"/>
                  </a:lnTo>
                  <a:lnTo>
                    <a:pt x="56705" y="409575"/>
                  </a:lnTo>
                  <a:lnTo>
                    <a:pt x="52755" y="409181"/>
                  </a:lnTo>
                  <a:lnTo>
                    <a:pt x="17767" y="391795"/>
                  </a:lnTo>
                  <a:lnTo>
                    <a:pt x="381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42484" y="4714462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3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7039" y="4644167"/>
            <a:ext cx="4544060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Model</a:t>
            </a:r>
            <a:r>
              <a:rPr sz="1700" b="1" spc="-65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Prediction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850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Use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trained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model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to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predict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species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of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in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a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new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image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or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video.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14" dirty="0"/>
              <a:t>Data</a:t>
            </a:r>
            <a:r>
              <a:rPr spc="-100" dirty="0"/>
              <a:t> </a:t>
            </a:r>
            <a:r>
              <a:rPr spc="-75" dirty="0"/>
              <a:t>Processing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57224" y="2447924"/>
            <a:ext cx="5829300" cy="2371725"/>
            <a:chOff x="657224" y="2447924"/>
            <a:chExt cx="5829300" cy="2371725"/>
          </a:xfrm>
        </p:grpSpPr>
        <p:sp>
          <p:nvSpPr>
            <p:cNvPr id="7" name="object 7"/>
            <p:cNvSpPr/>
            <p:nvPr/>
          </p:nvSpPr>
          <p:spPr>
            <a:xfrm>
              <a:off x="657225" y="2447924"/>
              <a:ext cx="5829300" cy="2371725"/>
            </a:xfrm>
            <a:custGeom>
              <a:avLst/>
              <a:gdLst/>
              <a:ahLst/>
              <a:cxnLst/>
              <a:rect l="l" t="t" r="r" b="b"/>
              <a:pathLst>
                <a:path w="5829300" h="2371725">
                  <a:moveTo>
                    <a:pt x="5768136" y="0"/>
                  </a:moveTo>
                  <a:lnTo>
                    <a:pt x="61158" y="0"/>
                  </a:lnTo>
                  <a:lnTo>
                    <a:pt x="56902" y="419"/>
                  </a:lnTo>
                  <a:lnTo>
                    <a:pt x="16132" y="22212"/>
                  </a:lnTo>
                  <a:lnTo>
                    <a:pt x="0" y="61150"/>
                  </a:lnTo>
                  <a:lnTo>
                    <a:pt x="0" y="2306269"/>
                  </a:lnTo>
                  <a:lnTo>
                    <a:pt x="0" y="2310561"/>
                  </a:lnTo>
                  <a:lnTo>
                    <a:pt x="16132" y="2349512"/>
                  </a:lnTo>
                  <a:lnTo>
                    <a:pt x="56902" y="2371305"/>
                  </a:lnTo>
                  <a:lnTo>
                    <a:pt x="61158" y="2371725"/>
                  </a:lnTo>
                  <a:lnTo>
                    <a:pt x="5768136" y="2371725"/>
                  </a:lnTo>
                  <a:lnTo>
                    <a:pt x="5807087" y="2355596"/>
                  </a:lnTo>
                  <a:lnTo>
                    <a:pt x="5828880" y="2314829"/>
                  </a:lnTo>
                  <a:lnTo>
                    <a:pt x="5829300" y="2310561"/>
                  </a:lnTo>
                  <a:lnTo>
                    <a:pt x="5829300" y="61150"/>
                  </a:lnTo>
                  <a:lnTo>
                    <a:pt x="5813171" y="22212"/>
                  </a:lnTo>
                  <a:lnTo>
                    <a:pt x="5772404" y="419"/>
                  </a:lnTo>
                  <a:lnTo>
                    <a:pt x="5768136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224" y="2447925"/>
              <a:ext cx="5829300" cy="2371725"/>
            </a:xfrm>
            <a:custGeom>
              <a:avLst/>
              <a:gdLst/>
              <a:ahLst/>
              <a:cxnLst/>
              <a:rect l="l" t="t" r="r" b="b"/>
              <a:pathLst>
                <a:path w="5829300" h="2371725">
                  <a:moveTo>
                    <a:pt x="5763843" y="0"/>
                  </a:moveTo>
                  <a:lnTo>
                    <a:pt x="65454" y="0"/>
                  </a:lnTo>
                  <a:lnTo>
                    <a:pt x="59007" y="311"/>
                  </a:lnTo>
                  <a:lnTo>
                    <a:pt x="19169" y="19164"/>
                  </a:lnTo>
                  <a:lnTo>
                    <a:pt x="311" y="59004"/>
                  </a:lnTo>
                  <a:lnTo>
                    <a:pt x="0" y="65455"/>
                  </a:lnTo>
                  <a:lnTo>
                    <a:pt x="0" y="2306269"/>
                  </a:lnTo>
                  <a:lnTo>
                    <a:pt x="14830" y="2347770"/>
                  </a:lnTo>
                  <a:lnTo>
                    <a:pt x="52683" y="2370477"/>
                  </a:lnTo>
                  <a:lnTo>
                    <a:pt x="65454" y="2371724"/>
                  </a:lnTo>
                  <a:lnTo>
                    <a:pt x="5763843" y="2371724"/>
                  </a:lnTo>
                  <a:lnTo>
                    <a:pt x="5805345" y="2356891"/>
                  </a:lnTo>
                  <a:lnTo>
                    <a:pt x="5828051" y="2319038"/>
                  </a:lnTo>
                  <a:lnTo>
                    <a:pt x="5829299" y="2306269"/>
                  </a:lnTo>
                  <a:lnTo>
                    <a:pt x="5829299" y="65455"/>
                  </a:lnTo>
                  <a:lnTo>
                    <a:pt x="5814460" y="23948"/>
                  </a:lnTo>
                  <a:lnTo>
                    <a:pt x="5776613" y="1246"/>
                  </a:lnTo>
                  <a:lnTo>
                    <a:pt x="5763843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9547" y="2539295"/>
            <a:ext cx="4140200" cy="2111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1770" marR="1412875" indent="-179705">
              <a:lnSpc>
                <a:spcPct val="134700"/>
              </a:lnSpc>
              <a:spcBef>
                <a:spcPts val="75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datagen</a:t>
            </a:r>
            <a:r>
              <a:rPr sz="14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ImageDataGenerator( rescale=1./255, rotation_range=20, zoom_range=0.2, horizontal_flip=True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450" spc="-50" dirty="0">
                <a:solidFill>
                  <a:srgbClr val="262424"/>
                </a:solidFill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train_generator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datagen.flow_from_directory(...)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846" y="518890"/>
            <a:ext cx="2961640" cy="553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80" dirty="0"/>
              <a:t>Model</a:t>
            </a:r>
            <a:r>
              <a:rPr spc="-145" dirty="0"/>
              <a:t> </a:t>
            </a:r>
            <a:r>
              <a:rPr spc="-90" dirty="0"/>
              <a:t>Training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56192" y="1489392"/>
            <a:ext cx="1264920" cy="1072515"/>
            <a:chOff x="2556192" y="1489392"/>
            <a:chExt cx="1264920" cy="1072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1495424"/>
              <a:ext cx="1252385" cy="10601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62225" y="1495424"/>
              <a:ext cx="1252855" cy="1060450"/>
            </a:xfrm>
            <a:custGeom>
              <a:avLst/>
              <a:gdLst/>
              <a:ahLst/>
              <a:cxnLst/>
              <a:rect l="l" t="t" r="r" b="b"/>
              <a:pathLst>
                <a:path w="1252854" h="1060450">
                  <a:moveTo>
                    <a:pt x="626198" y="0"/>
                  </a:moveTo>
                  <a:lnTo>
                    <a:pt x="1252385" y="1060107"/>
                  </a:lnTo>
                  <a:lnTo>
                    <a:pt x="0" y="1060107"/>
                  </a:lnTo>
                  <a:lnTo>
                    <a:pt x="626198" y="0"/>
                  </a:lnTo>
                  <a:close/>
                </a:path>
              </a:pathLst>
            </a:custGeom>
            <a:ln w="11688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13582" y="1972881"/>
            <a:ext cx="147320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b="1" spc="-90" dirty="0">
                <a:solidFill>
                  <a:srgbClr val="262424"/>
                </a:solidFill>
                <a:latin typeface="Cambria"/>
                <a:cs typeface="Cambria"/>
              </a:rPr>
              <a:t>1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85120" y="1634267"/>
            <a:ext cx="3181985" cy="692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Build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Construct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neural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network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architecture.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27542" y="2566987"/>
            <a:ext cx="8797925" cy="1099820"/>
            <a:chOff x="1927542" y="2566987"/>
            <a:chExt cx="8797925" cy="1099820"/>
          </a:xfrm>
        </p:grpSpPr>
        <p:sp>
          <p:nvSpPr>
            <p:cNvPr id="9" name="object 9"/>
            <p:cNvSpPr/>
            <p:nvPr/>
          </p:nvSpPr>
          <p:spPr>
            <a:xfrm>
              <a:off x="3857625" y="2566987"/>
              <a:ext cx="6867525" cy="9525"/>
            </a:xfrm>
            <a:custGeom>
              <a:avLst/>
              <a:gdLst/>
              <a:ahLst/>
              <a:cxnLst/>
              <a:rect l="l" t="t" r="r" b="b"/>
              <a:pathLst>
                <a:path w="6867525" h="9525">
                  <a:moveTo>
                    <a:pt x="6860629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6860629" y="9525"/>
                  </a:lnTo>
                  <a:lnTo>
                    <a:pt x="6862876" y="9055"/>
                  </a:lnTo>
                  <a:lnTo>
                    <a:pt x="6866598" y="7200"/>
                  </a:lnTo>
                  <a:lnTo>
                    <a:pt x="6867525" y="6083"/>
                  </a:lnTo>
                  <a:lnTo>
                    <a:pt x="6867525" y="3454"/>
                  </a:lnTo>
                  <a:lnTo>
                    <a:pt x="6866598" y="2324"/>
                  </a:lnTo>
                  <a:lnTo>
                    <a:pt x="6862876" y="457"/>
                  </a:lnTo>
                  <a:lnTo>
                    <a:pt x="6860629" y="0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3575" y="2600324"/>
              <a:ext cx="2504782" cy="10601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33575" y="2600324"/>
              <a:ext cx="2505075" cy="1060450"/>
            </a:xfrm>
            <a:custGeom>
              <a:avLst/>
              <a:gdLst/>
              <a:ahLst/>
              <a:cxnLst/>
              <a:rect l="l" t="t" r="r" b="b"/>
              <a:pathLst>
                <a:path w="2505075" h="1060450">
                  <a:moveTo>
                    <a:pt x="619874" y="0"/>
                  </a:moveTo>
                  <a:lnTo>
                    <a:pt x="1884908" y="0"/>
                  </a:lnTo>
                  <a:lnTo>
                    <a:pt x="2504782" y="1060107"/>
                  </a:lnTo>
                  <a:lnTo>
                    <a:pt x="0" y="1060107"/>
                  </a:lnTo>
                  <a:lnTo>
                    <a:pt x="619874" y="0"/>
                  </a:lnTo>
                  <a:close/>
                </a:path>
              </a:pathLst>
            </a:custGeom>
            <a:ln w="11688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13430" y="2953956"/>
            <a:ext cx="147320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b="1" spc="-90" dirty="0">
                <a:solidFill>
                  <a:srgbClr val="262424"/>
                </a:solidFill>
                <a:latin typeface="Cambria"/>
                <a:cs typeface="Cambria"/>
              </a:rPr>
              <a:t>2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1242" y="2739167"/>
            <a:ext cx="2822575" cy="692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Train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Feed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training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data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to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network.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8892" y="3681412"/>
            <a:ext cx="9436100" cy="1090295"/>
            <a:chOff x="1298892" y="3681412"/>
            <a:chExt cx="9436100" cy="1090295"/>
          </a:xfrm>
        </p:grpSpPr>
        <p:sp>
          <p:nvSpPr>
            <p:cNvPr id="15" name="object 15"/>
            <p:cNvSpPr/>
            <p:nvPr/>
          </p:nvSpPr>
          <p:spPr>
            <a:xfrm>
              <a:off x="4486275" y="3681412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6241503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6241503" y="9525"/>
                  </a:lnTo>
                  <a:lnTo>
                    <a:pt x="6243751" y="9055"/>
                  </a:lnTo>
                  <a:lnTo>
                    <a:pt x="6247472" y="7200"/>
                  </a:lnTo>
                  <a:lnTo>
                    <a:pt x="6248400" y="6083"/>
                  </a:lnTo>
                  <a:lnTo>
                    <a:pt x="6248400" y="3454"/>
                  </a:lnTo>
                  <a:lnTo>
                    <a:pt x="6247472" y="2324"/>
                  </a:lnTo>
                  <a:lnTo>
                    <a:pt x="6243751" y="457"/>
                  </a:lnTo>
                  <a:lnTo>
                    <a:pt x="6241503" y="0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4925" y="3705225"/>
              <a:ext cx="3757320" cy="10601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04925" y="3705225"/>
              <a:ext cx="3757929" cy="1060450"/>
            </a:xfrm>
            <a:custGeom>
              <a:avLst/>
              <a:gdLst/>
              <a:ahLst/>
              <a:cxnLst/>
              <a:rect l="l" t="t" r="r" b="b"/>
              <a:pathLst>
                <a:path w="3757929" h="1060450">
                  <a:moveTo>
                    <a:pt x="613575" y="0"/>
                  </a:moveTo>
                  <a:lnTo>
                    <a:pt x="3143745" y="0"/>
                  </a:lnTo>
                  <a:lnTo>
                    <a:pt x="3757320" y="1060107"/>
                  </a:lnTo>
                  <a:lnTo>
                    <a:pt x="0" y="1060107"/>
                  </a:lnTo>
                  <a:lnTo>
                    <a:pt x="613575" y="0"/>
                  </a:lnTo>
                  <a:close/>
                </a:path>
              </a:pathLst>
            </a:custGeom>
            <a:ln w="11688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13430" y="4058856"/>
            <a:ext cx="147320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b="1" spc="-90" dirty="0">
                <a:solidFill>
                  <a:srgbClr val="262424"/>
                </a:solidFill>
                <a:latin typeface="Cambria"/>
                <a:cs typeface="Cambria"/>
              </a:rPr>
              <a:t>3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7505" y="3853592"/>
            <a:ext cx="4088129" cy="683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Evaluate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Assess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model's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performance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on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separate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dataset.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0430" y="4786312"/>
            <a:ext cx="10055225" cy="1090295"/>
            <a:chOff x="670430" y="4786312"/>
            <a:chExt cx="10055225" cy="1090295"/>
          </a:xfrm>
        </p:grpSpPr>
        <p:sp>
          <p:nvSpPr>
            <p:cNvPr id="21" name="object 21"/>
            <p:cNvSpPr/>
            <p:nvPr/>
          </p:nvSpPr>
          <p:spPr>
            <a:xfrm>
              <a:off x="5105399" y="4786312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5612853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5612853" y="9525"/>
                  </a:lnTo>
                  <a:lnTo>
                    <a:pt x="5615101" y="9055"/>
                  </a:lnTo>
                  <a:lnTo>
                    <a:pt x="5618822" y="7200"/>
                  </a:lnTo>
                  <a:lnTo>
                    <a:pt x="5619750" y="6083"/>
                  </a:lnTo>
                  <a:lnTo>
                    <a:pt x="5619750" y="3454"/>
                  </a:lnTo>
                  <a:lnTo>
                    <a:pt x="5618822" y="2324"/>
                  </a:lnTo>
                  <a:lnTo>
                    <a:pt x="5615101" y="457"/>
                  </a:lnTo>
                  <a:lnTo>
                    <a:pt x="5612853" y="0"/>
                  </a:lnTo>
                  <a:close/>
                </a:path>
              </a:pathLst>
            </a:custGeom>
            <a:solidFill>
              <a:srgbClr val="DAB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274" y="4810125"/>
              <a:ext cx="5009705" cy="106010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76274" y="4810125"/>
              <a:ext cx="5010150" cy="1060450"/>
            </a:xfrm>
            <a:custGeom>
              <a:avLst/>
              <a:gdLst/>
              <a:ahLst/>
              <a:cxnLst/>
              <a:rect l="l" t="t" r="r" b="b"/>
              <a:pathLst>
                <a:path w="5010150" h="1060450">
                  <a:moveTo>
                    <a:pt x="607237" y="0"/>
                  </a:moveTo>
                  <a:lnTo>
                    <a:pt x="4402467" y="0"/>
                  </a:lnTo>
                  <a:lnTo>
                    <a:pt x="5009705" y="1060103"/>
                  </a:lnTo>
                  <a:lnTo>
                    <a:pt x="0" y="1060103"/>
                  </a:lnTo>
                  <a:lnTo>
                    <a:pt x="607237" y="0"/>
                  </a:lnTo>
                  <a:close/>
                </a:path>
              </a:pathLst>
            </a:custGeom>
            <a:ln w="11688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13430" y="5163757"/>
            <a:ext cx="147320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b="1" spc="-90" dirty="0">
                <a:solidFill>
                  <a:srgbClr val="262424"/>
                </a:solidFill>
                <a:latin typeface="Cambria"/>
                <a:cs typeface="Cambria"/>
              </a:rPr>
              <a:t>4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63780" y="4958493"/>
            <a:ext cx="3397250" cy="683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Save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Store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best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performing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model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for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later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use.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28095" y="1861915"/>
            <a:ext cx="3916679" cy="553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65" dirty="0"/>
              <a:t>Real-</a:t>
            </a:r>
            <a:r>
              <a:rPr spc="-95" dirty="0"/>
              <a:t>Time</a:t>
            </a:r>
            <a:r>
              <a:rPr spc="-70" dirty="0"/>
              <a:t> </a:t>
            </a:r>
            <a:r>
              <a:rPr spc="-65" dirty="0"/>
              <a:t>Detection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43474" y="2743199"/>
            <a:ext cx="5829300" cy="1781175"/>
            <a:chOff x="4943474" y="2743199"/>
            <a:chExt cx="5829300" cy="1781175"/>
          </a:xfrm>
        </p:grpSpPr>
        <p:sp>
          <p:nvSpPr>
            <p:cNvPr id="5" name="object 5"/>
            <p:cNvSpPr/>
            <p:nvPr/>
          </p:nvSpPr>
          <p:spPr>
            <a:xfrm>
              <a:off x="4943475" y="2743199"/>
              <a:ext cx="5829300" cy="1781175"/>
            </a:xfrm>
            <a:custGeom>
              <a:avLst/>
              <a:gdLst/>
              <a:ahLst/>
              <a:cxnLst/>
              <a:rect l="l" t="t" r="r" b="b"/>
              <a:pathLst>
                <a:path w="5829300" h="1781175">
                  <a:moveTo>
                    <a:pt x="5768136" y="0"/>
                  </a:moveTo>
                  <a:lnTo>
                    <a:pt x="61163" y="0"/>
                  </a:lnTo>
                  <a:lnTo>
                    <a:pt x="56896" y="419"/>
                  </a:lnTo>
                  <a:lnTo>
                    <a:pt x="16129" y="22212"/>
                  </a:lnTo>
                  <a:lnTo>
                    <a:pt x="0" y="61163"/>
                  </a:lnTo>
                  <a:lnTo>
                    <a:pt x="0" y="1715719"/>
                  </a:lnTo>
                  <a:lnTo>
                    <a:pt x="0" y="1720011"/>
                  </a:lnTo>
                  <a:lnTo>
                    <a:pt x="16129" y="1758962"/>
                  </a:lnTo>
                  <a:lnTo>
                    <a:pt x="56896" y="1780755"/>
                  </a:lnTo>
                  <a:lnTo>
                    <a:pt x="61163" y="1781175"/>
                  </a:lnTo>
                  <a:lnTo>
                    <a:pt x="5768136" y="1781175"/>
                  </a:lnTo>
                  <a:lnTo>
                    <a:pt x="5807087" y="1765046"/>
                  </a:lnTo>
                  <a:lnTo>
                    <a:pt x="5828880" y="1724279"/>
                  </a:lnTo>
                  <a:lnTo>
                    <a:pt x="5829300" y="1720011"/>
                  </a:lnTo>
                  <a:lnTo>
                    <a:pt x="5829300" y="61163"/>
                  </a:lnTo>
                  <a:lnTo>
                    <a:pt x="5813171" y="22212"/>
                  </a:lnTo>
                  <a:lnTo>
                    <a:pt x="5772404" y="419"/>
                  </a:lnTo>
                  <a:lnTo>
                    <a:pt x="5768136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3474" y="2743200"/>
              <a:ext cx="5829300" cy="1781175"/>
            </a:xfrm>
            <a:custGeom>
              <a:avLst/>
              <a:gdLst/>
              <a:ahLst/>
              <a:cxnLst/>
              <a:rect l="l" t="t" r="r" b="b"/>
              <a:pathLst>
                <a:path w="5829300" h="1781175">
                  <a:moveTo>
                    <a:pt x="5763843" y="0"/>
                  </a:moveTo>
                  <a:lnTo>
                    <a:pt x="65455" y="0"/>
                  </a:lnTo>
                  <a:lnTo>
                    <a:pt x="59004" y="311"/>
                  </a:lnTo>
                  <a:lnTo>
                    <a:pt x="19164" y="19164"/>
                  </a:lnTo>
                  <a:lnTo>
                    <a:pt x="311" y="59004"/>
                  </a:lnTo>
                  <a:lnTo>
                    <a:pt x="0" y="65455"/>
                  </a:lnTo>
                  <a:lnTo>
                    <a:pt x="0" y="1715719"/>
                  </a:lnTo>
                  <a:lnTo>
                    <a:pt x="14827" y="1757220"/>
                  </a:lnTo>
                  <a:lnTo>
                    <a:pt x="52681" y="1779927"/>
                  </a:lnTo>
                  <a:lnTo>
                    <a:pt x="65455" y="1781174"/>
                  </a:lnTo>
                  <a:lnTo>
                    <a:pt x="5763843" y="1781174"/>
                  </a:lnTo>
                  <a:lnTo>
                    <a:pt x="5805350" y="1766341"/>
                  </a:lnTo>
                  <a:lnTo>
                    <a:pt x="5828051" y="1728488"/>
                  </a:lnTo>
                  <a:lnTo>
                    <a:pt x="5829299" y="1715719"/>
                  </a:lnTo>
                  <a:lnTo>
                    <a:pt x="5829299" y="65455"/>
                  </a:lnTo>
                  <a:lnTo>
                    <a:pt x="5814460" y="23948"/>
                  </a:lnTo>
                  <a:lnTo>
                    <a:pt x="5776613" y="1246"/>
                  </a:lnTo>
                  <a:lnTo>
                    <a:pt x="5763843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05793" y="2834570"/>
            <a:ext cx="4114800" cy="152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26589">
              <a:lnSpc>
                <a:spcPct val="133600"/>
              </a:lnSpc>
              <a:spcBef>
                <a:spcPts val="95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cap</a:t>
            </a:r>
            <a:r>
              <a:rPr sz="1450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-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cv2.VideoCapture(0) </a:t>
            </a: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while</a:t>
            </a:r>
            <a:r>
              <a:rPr sz="145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True:</a:t>
            </a:r>
            <a:endParaRPr sz="1450">
              <a:latin typeface="Tahoma"/>
              <a:cs typeface="Tahoma"/>
            </a:endParaRPr>
          </a:p>
          <a:p>
            <a:pPr marL="191770">
              <a:lnSpc>
                <a:spcPct val="100000"/>
              </a:lnSpc>
              <a:spcBef>
                <a:spcPts val="660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ret,</a:t>
            </a:r>
            <a:r>
              <a:rPr sz="14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frame</a:t>
            </a:r>
            <a:r>
              <a:rPr sz="14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Tahoma"/>
                <a:cs typeface="Tahoma"/>
              </a:rPr>
              <a:t>cap.read()</a:t>
            </a:r>
            <a:endParaRPr sz="1450">
              <a:latin typeface="Tahoma"/>
              <a:cs typeface="Tahoma"/>
            </a:endParaRPr>
          </a:p>
          <a:p>
            <a:pPr marL="191770">
              <a:lnSpc>
                <a:spcPct val="100000"/>
              </a:lnSpc>
              <a:spcBef>
                <a:spcPts val="585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img</a:t>
            </a:r>
            <a:r>
              <a:rPr sz="14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cv2.resize(frame,</a:t>
            </a:r>
            <a:r>
              <a:rPr sz="14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262424"/>
                </a:solidFill>
                <a:latin typeface="Tahoma"/>
                <a:cs typeface="Tahoma"/>
              </a:rPr>
              <a:t>(64,</a:t>
            </a:r>
            <a:r>
              <a:rPr sz="14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Tahoma"/>
                <a:cs typeface="Tahoma"/>
              </a:rPr>
              <a:t>64))</a:t>
            </a:r>
            <a:endParaRPr sz="1450">
              <a:latin typeface="Tahoma"/>
              <a:cs typeface="Tahoma"/>
            </a:endParaRPr>
          </a:p>
          <a:p>
            <a:pPr marL="191770">
              <a:lnSpc>
                <a:spcPct val="100000"/>
              </a:lnSpc>
              <a:spcBef>
                <a:spcPts val="660"/>
              </a:spcBef>
            </a:pP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prediction</a:t>
            </a:r>
            <a:r>
              <a:rPr sz="1450" spc="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210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4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Tahoma"/>
                <a:cs typeface="Tahoma"/>
              </a:rPr>
              <a:t>model.predict(img[np.newaxis,</a:t>
            </a:r>
            <a:r>
              <a:rPr sz="1450" spc="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60" dirty="0">
                <a:solidFill>
                  <a:srgbClr val="262424"/>
                </a:solidFill>
                <a:latin typeface="Tahoma"/>
                <a:cs typeface="Tahoma"/>
              </a:rPr>
              <a:t>...])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28095" y="833215"/>
            <a:ext cx="3592829" cy="553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5" dirty="0"/>
              <a:t>Technologies</a:t>
            </a:r>
            <a:r>
              <a:rPr spc="-110" dirty="0"/>
              <a:t> </a:t>
            </a:r>
            <a:r>
              <a:rPr spc="-45" dirty="0"/>
              <a:t>Used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3475" y="1714499"/>
            <a:ext cx="468833" cy="4688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28095" y="2329592"/>
            <a:ext cx="2724785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Python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primary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programming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language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used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for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development.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9432" y="1714499"/>
            <a:ext cx="350596" cy="4674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85620" y="2329592"/>
            <a:ext cx="2548890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TensorFlow/Keras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For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building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training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deep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learning</a:t>
            </a:r>
            <a:r>
              <a:rPr sz="1450" spc="-9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model.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1907" y="3914775"/>
            <a:ext cx="350596" cy="4674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28095" y="4529867"/>
            <a:ext cx="2374900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OpenCV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For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image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video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processing tasks.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0210" y="3914775"/>
            <a:ext cx="409041" cy="4674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985620" y="4529867"/>
            <a:ext cx="2543175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NumPy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70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Provides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numerical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operations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for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image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manipulation.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2" name="object 12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1846" y="728440"/>
            <a:ext cx="2190115" cy="5537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5" dirty="0"/>
              <a:t>Conclusion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57225" y="1819274"/>
            <a:ext cx="419100" cy="419100"/>
            <a:chOff x="657225" y="1819274"/>
            <a:chExt cx="419100" cy="419100"/>
          </a:xfrm>
        </p:grpSpPr>
        <p:sp>
          <p:nvSpPr>
            <p:cNvPr id="7" name="object 7"/>
            <p:cNvSpPr/>
            <p:nvPr/>
          </p:nvSpPr>
          <p:spPr>
            <a:xfrm>
              <a:off x="661987" y="18240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29" y="0"/>
                  </a:moveTo>
                  <a:lnTo>
                    <a:pt x="52645" y="0"/>
                  </a:lnTo>
                  <a:lnTo>
                    <a:pt x="44900" y="1536"/>
                  </a:lnTo>
                  <a:lnTo>
                    <a:pt x="12085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65" y="397484"/>
                  </a:lnTo>
                  <a:lnTo>
                    <a:pt x="52645" y="409574"/>
                  </a:lnTo>
                  <a:lnTo>
                    <a:pt x="356929" y="409574"/>
                  </a:lnTo>
                  <a:lnTo>
                    <a:pt x="397489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29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1828800"/>
              <a:ext cx="400049" cy="4000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1987" y="18240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7" y="52755"/>
                  </a:lnTo>
                  <a:lnTo>
                    <a:pt x="1165" y="48856"/>
                  </a:lnTo>
                  <a:lnTo>
                    <a:pt x="1944" y="44945"/>
                  </a:lnTo>
                  <a:lnTo>
                    <a:pt x="3096" y="41148"/>
                  </a:lnTo>
                  <a:lnTo>
                    <a:pt x="17774" y="17780"/>
                  </a:lnTo>
                  <a:lnTo>
                    <a:pt x="20593" y="14960"/>
                  </a:lnTo>
                  <a:lnTo>
                    <a:pt x="56708" y="0"/>
                  </a:lnTo>
                  <a:lnTo>
                    <a:pt x="60692" y="0"/>
                  </a:lnTo>
                  <a:lnTo>
                    <a:pt x="348882" y="0"/>
                  </a:lnTo>
                  <a:lnTo>
                    <a:pt x="352866" y="0"/>
                  </a:lnTo>
                  <a:lnTo>
                    <a:pt x="356815" y="393"/>
                  </a:lnTo>
                  <a:lnTo>
                    <a:pt x="391800" y="17780"/>
                  </a:lnTo>
                  <a:lnTo>
                    <a:pt x="394618" y="20599"/>
                  </a:lnTo>
                  <a:lnTo>
                    <a:pt x="397132" y="23660"/>
                  </a:lnTo>
                  <a:lnTo>
                    <a:pt x="399345" y="26974"/>
                  </a:lnTo>
                  <a:lnTo>
                    <a:pt x="401558" y="30289"/>
                  </a:lnTo>
                  <a:lnTo>
                    <a:pt x="408409" y="48856"/>
                  </a:lnTo>
                  <a:lnTo>
                    <a:pt x="409187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87" y="356806"/>
                  </a:lnTo>
                  <a:lnTo>
                    <a:pt x="408409" y="360718"/>
                  </a:lnTo>
                  <a:lnTo>
                    <a:pt x="407630" y="364629"/>
                  </a:lnTo>
                  <a:lnTo>
                    <a:pt x="399345" y="382600"/>
                  </a:lnTo>
                  <a:lnTo>
                    <a:pt x="397132" y="385914"/>
                  </a:lnTo>
                  <a:lnTo>
                    <a:pt x="364628" y="407631"/>
                  </a:lnTo>
                  <a:lnTo>
                    <a:pt x="352866" y="409575"/>
                  </a:lnTo>
                  <a:lnTo>
                    <a:pt x="348882" y="409575"/>
                  </a:lnTo>
                  <a:lnTo>
                    <a:pt x="60692" y="409575"/>
                  </a:lnTo>
                  <a:lnTo>
                    <a:pt x="56708" y="409575"/>
                  </a:lnTo>
                  <a:lnTo>
                    <a:pt x="52759" y="409181"/>
                  </a:lnTo>
                  <a:lnTo>
                    <a:pt x="17774" y="391795"/>
                  </a:lnTo>
                  <a:lnTo>
                    <a:pt x="10229" y="382600"/>
                  </a:lnTo>
                  <a:lnTo>
                    <a:pt x="8017" y="379285"/>
                  </a:lnTo>
                  <a:lnTo>
                    <a:pt x="1165" y="360718"/>
                  </a:lnTo>
                  <a:lnTo>
                    <a:pt x="387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6210" y="1818862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9512" y="1777142"/>
            <a:ext cx="1826260" cy="18643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37185">
              <a:lnSpc>
                <a:spcPts val="2180"/>
              </a:lnSpc>
              <a:spcBef>
                <a:spcPts val="85"/>
              </a:spcBef>
            </a:pP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Animal</a:t>
            </a:r>
            <a:r>
              <a:rPr sz="1700" b="1" spc="-40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25" dirty="0">
                <a:solidFill>
                  <a:srgbClr val="262424"/>
                </a:solidFill>
                <a:latin typeface="Cambria"/>
                <a:cs typeface="Cambria"/>
              </a:rPr>
              <a:t>Species </a:t>
            </a: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Detection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5100"/>
              </a:lnSpc>
              <a:spcBef>
                <a:spcPts val="725"/>
              </a:spcBef>
            </a:pP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WildSense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successfully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detects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various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animal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species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using</a:t>
            </a:r>
            <a:r>
              <a:rPr sz="1450" spc="-3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</a:t>
            </a:r>
            <a:r>
              <a:rPr sz="1450" spc="-4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machine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learning</a:t>
            </a:r>
            <a:r>
              <a:rPr sz="1450" spc="-9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model.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67125" y="1819274"/>
            <a:ext cx="419100" cy="419100"/>
            <a:chOff x="3667125" y="1819274"/>
            <a:chExt cx="419100" cy="419100"/>
          </a:xfrm>
        </p:grpSpPr>
        <p:sp>
          <p:nvSpPr>
            <p:cNvPr id="13" name="object 13"/>
            <p:cNvSpPr/>
            <p:nvPr/>
          </p:nvSpPr>
          <p:spPr>
            <a:xfrm>
              <a:off x="3671887" y="18240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33" y="0"/>
                  </a:moveTo>
                  <a:lnTo>
                    <a:pt x="52641" y="0"/>
                  </a:lnTo>
                  <a:lnTo>
                    <a:pt x="44907" y="1536"/>
                  </a:lnTo>
                  <a:lnTo>
                    <a:pt x="12090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69" y="397484"/>
                  </a:lnTo>
                  <a:lnTo>
                    <a:pt x="52641" y="409574"/>
                  </a:lnTo>
                  <a:lnTo>
                    <a:pt x="356933" y="409574"/>
                  </a:lnTo>
                  <a:lnTo>
                    <a:pt x="397484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33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6649" y="1828800"/>
              <a:ext cx="400049" cy="4000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71887" y="182403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1" y="52755"/>
                  </a:lnTo>
                  <a:lnTo>
                    <a:pt x="1168" y="48856"/>
                  </a:lnTo>
                  <a:lnTo>
                    <a:pt x="1943" y="44945"/>
                  </a:lnTo>
                  <a:lnTo>
                    <a:pt x="3098" y="41148"/>
                  </a:lnTo>
                  <a:lnTo>
                    <a:pt x="4622" y="37465"/>
                  </a:lnTo>
                  <a:lnTo>
                    <a:pt x="6146" y="33782"/>
                  </a:lnTo>
                  <a:lnTo>
                    <a:pt x="8013" y="30289"/>
                  </a:lnTo>
                  <a:lnTo>
                    <a:pt x="10223" y="26974"/>
                  </a:lnTo>
                  <a:lnTo>
                    <a:pt x="12446" y="23660"/>
                  </a:lnTo>
                  <a:lnTo>
                    <a:pt x="14960" y="20599"/>
                  </a:lnTo>
                  <a:lnTo>
                    <a:pt x="17780" y="17780"/>
                  </a:lnTo>
                  <a:lnTo>
                    <a:pt x="20586" y="14960"/>
                  </a:lnTo>
                  <a:lnTo>
                    <a:pt x="37465" y="4622"/>
                  </a:lnTo>
                  <a:lnTo>
                    <a:pt x="41148" y="3098"/>
                  </a:lnTo>
                  <a:lnTo>
                    <a:pt x="44945" y="1943"/>
                  </a:lnTo>
                  <a:lnTo>
                    <a:pt x="48844" y="1168"/>
                  </a:lnTo>
                  <a:lnTo>
                    <a:pt x="52755" y="393"/>
                  </a:lnTo>
                  <a:lnTo>
                    <a:pt x="56705" y="0"/>
                  </a:lnTo>
                  <a:lnTo>
                    <a:pt x="60693" y="0"/>
                  </a:lnTo>
                  <a:lnTo>
                    <a:pt x="348881" y="0"/>
                  </a:lnTo>
                  <a:lnTo>
                    <a:pt x="352869" y="0"/>
                  </a:lnTo>
                  <a:lnTo>
                    <a:pt x="356819" y="393"/>
                  </a:lnTo>
                  <a:lnTo>
                    <a:pt x="360718" y="1168"/>
                  </a:lnTo>
                  <a:lnTo>
                    <a:pt x="364629" y="1943"/>
                  </a:lnTo>
                  <a:lnTo>
                    <a:pt x="368427" y="3098"/>
                  </a:lnTo>
                  <a:lnTo>
                    <a:pt x="372110" y="4622"/>
                  </a:lnTo>
                  <a:lnTo>
                    <a:pt x="375793" y="6146"/>
                  </a:lnTo>
                  <a:lnTo>
                    <a:pt x="391795" y="17780"/>
                  </a:lnTo>
                  <a:lnTo>
                    <a:pt x="394614" y="20599"/>
                  </a:lnTo>
                  <a:lnTo>
                    <a:pt x="404952" y="37465"/>
                  </a:lnTo>
                  <a:lnTo>
                    <a:pt x="406476" y="41148"/>
                  </a:lnTo>
                  <a:lnTo>
                    <a:pt x="407631" y="44945"/>
                  </a:lnTo>
                  <a:lnTo>
                    <a:pt x="408406" y="48856"/>
                  </a:lnTo>
                  <a:lnTo>
                    <a:pt x="409194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94" y="356806"/>
                  </a:lnTo>
                  <a:lnTo>
                    <a:pt x="408406" y="360718"/>
                  </a:lnTo>
                  <a:lnTo>
                    <a:pt x="407631" y="364629"/>
                  </a:lnTo>
                  <a:lnTo>
                    <a:pt x="406476" y="368427"/>
                  </a:lnTo>
                  <a:lnTo>
                    <a:pt x="404952" y="372110"/>
                  </a:lnTo>
                  <a:lnTo>
                    <a:pt x="403428" y="375793"/>
                  </a:lnTo>
                  <a:lnTo>
                    <a:pt x="391795" y="391795"/>
                  </a:lnTo>
                  <a:lnTo>
                    <a:pt x="388988" y="394614"/>
                  </a:lnTo>
                  <a:lnTo>
                    <a:pt x="372110" y="404952"/>
                  </a:lnTo>
                  <a:lnTo>
                    <a:pt x="368427" y="406476"/>
                  </a:lnTo>
                  <a:lnTo>
                    <a:pt x="364629" y="407631"/>
                  </a:lnTo>
                  <a:lnTo>
                    <a:pt x="360730" y="408406"/>
                  </a:lnTo>
                  <a:lnTo>
                    <a:pt x="356819" y="409181"/>
                  </a:lnTo>
                  <a:lnTo>
                    <a:pt x="352869" y="409575"/>
                  </a:lnTo>
                  <a:lnTo>
                    <a:pt x="348881" y="409575"/>
                  </a:lnTo>
                  <a:lnTo>
                    <a:pt x="60693" y="409575"/>
                  </a:lnTo>
                  <a:lnTo>
                    <a:pt x="56705" y="409575"/>
                  </a:lnTo>
                  <a:lnTo>
                    <a:pt x="52755" y="409181"/>
                  </a:lnTo>
                  <a:lnTo>
                    <a:pt x="48844" y="408406"/>
                  </a:lnTo>
                  <a:lnTo>
                    <a:pt x="44945" y="407631"/>
                  </a:lnTo>
                  <a:lnTo>
                    <a:pt x="41148" y="406476"/>
                  </a:lnTo>
                  <a:lnTo>
                    <a:pt x="37465" y="404952"/>
                  </a:lnTo>
                  <a:lnTo>
                    <a:pt x="33782" y="403428"/>
                  </a:lnTo>
                  <a:lnTo>
                    <a:pt x="17780" y="391795"/>
                  </a:lnTo>
                  <a:lnTo>
                    <a:pt x="14960" y="388975"/>
                  </a:lnTo>
                  <a:lnTo>
                    <a:pt x="4622" y="372110"/>
                  </a:lnTo>
                  <a:lnTo>
                    <a:pt x="3098" y="368427"/>
                  </a:lnTo>
                  <a:lnTo>
                    <a:pt x="1943" y="364629"/>
                  </a:lnTo>
                  <a:lnTo>
                    <a:pt x="1168" y="360718"/>
                  </a:lnTo>
                  <a:lnTo>
                    <a:pt x="381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97007" y="1818862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2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0310" y="1777142"/>
            <a:ext cx="2237740" cy="1292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35" dirty="0">
                <a:solidFill>
                  <a:srgbClr val="262424"/>
                </a:solidFill>
                <a:latin typeface="Cambria"/>
                <a:cs typeface="Cambria"/>
              </a:rPr>
              <a:t>Wildlife</a:t>
            </a:r>
            <a:r>
              <a:rPr sz="1700" b="1" spc="-30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62424"/>
                </a:solidFill>
                <a:latin typeface="Cambria"/>
                <a:cs typeface="Cambria"/>
              </a:rPr>
              <a:t>Monitoring</a:t>
            </a:r>
            <a:endParaRPr sz="1700" dirty="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81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system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can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be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applied</a:t>
            </a:r>
            <a:r>
              <a:rPr sz="1450" spc="-4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for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wildlife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monitoring</a:t>
            </a:r>
            <a:r>
              <a:rPr sz="1450" spc="-7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and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research</a:t>
            </a:r>
            <a:r>
              <a:rPr sz="1450" spc="-7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purposes.</a:t>
            </a:r>
            <a:endParaRPr sz="145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7225" y="4076700"/>
            <a:ext cx="419100" cy="419100"/>
            <a:chOff x="657225" y="4076700"/>
            <a:chExt cx="419100" cy="419100"/>
          </a:xfrm>
        </p:grpSpPr>
        <p:sp>
          <p:nvSpPr>
            <p:cNvPr id="19" name="object 19"/>
            <p:cNvSpPr/>
            <p:nvPr/>
          </p:nvSpPr>
          <p:spPr>
            <a:xfrm>
              <a:off x="661987" y="40814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29" y="0"/>
                  </a:moveTo>
                  <a:lnTo>
                    <a:pt x="52645" y="0"/>
                  </a:lnTo>
                  <a:lnTo>
                    <a:pt x="44900" y="1536"/>
                  </a:lnTo>
                  <a:lnTo>
                    <a:pt x="12085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65" y="397484"/>
                  </a:lnTo>
                  <a:lnTo>
                    <a:pt x="52645" y="409574"/>
                  </a:lnTo>
                  <a:lnTo>
                    <a:pt x="356929" y="409574"/>
                  </a:lnTo>
                  <a:lnTo>
                    <a:pt x="397489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29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49" y="4086225"/>
              <a:ext cx="400049" cy="4000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1987" y="40814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7" y="52755"/>
                  </a:lnTo>
                  <a:lnTo>
                    <a:pt x="1165" y="48856"/>
                  </a:lnTo>
                  <a:lnTo>
                    <a:pt x="1944" y="44945"/>
                  </a:lnTo>
                  <a:lnTo>
                    <a:pt x="3096" y="41148"/>
                  </a:lnTo>
                  <a:lnTo>
                    <a:pt x="26972" y="10223"/>
                  </a:lnTo>
                  <a:lnTo>
                    <a:pt x="56708" y="0"/>
                  </a:lnTo>
                  <a:lnTo>
                    <a:pt x="60692" y="0"/>
                  </a:lnTo>
                  <a:lnTo>
                    <a:pt x="348882" y="0"/>
                  </a:lnTo>
                  <a:lnTo>
                    <a:pt x="352866" y="0"/>
                  </a:lnTo>
                  <a:lnTo>
                    <a:pt x="356815" y="393"/>
                  </a:lnTo>
                  <a:lnTo>
                    <a:pt x="391800" y="17780"/>
                  </a:lnTo>
                  <a:lnTo>
                    <a:pt x="399345" y="26974"/>
                  </a:lnTo>
                  <a:lnTo>
                    <a:pt x="401558" y="30289"/>
                  </a:lnTo>
                  <a:lnTo>
                    <a:pt x="408409" y="48856"/>
                  </a:lnTo>
                  <a:lnTo>
                    <a:pt x="409187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87" y="356806"/>
                  </a:lnTo>
                  <a:lnTo>
                    <a:pt x="408409" y="360718"/>
                  </a:lnTo>
                  <a:lnTo>
                    <a:pt x="407630" y="364629"/>
                  </a:lnTo>
                  <a:lnTo>
                    <a:pt x="399345" y="382600"/>
                  </a:lnTo>
                  <a:lnTo>
                    <a:pt x="397132" y="385914"/>
                  </a:lnTo>
                  <a:lnTo>
                    <a:pt x="394618" y="388975"/>
                  </a:lnTo>
                  <a:lnTo>
                    <a:pt x="391800" y="391795"/>
                  </a:lnTo>
                  <a:lnTo>
                    <a:pt x="388981" y="394614"/>
                  </a:lnTo>
                  <a:lnTo>
                    <a:pt x="352866" y="409575"/>
                  </a:lnTo>
                  <a:lnTo>
                    <a:pt x="348882" y="409575"/>
                  </a:lnTo>
                  <a:lnTo>
                    <a:pt x="60692" y="409575"/>
                  </a:lnTo>
                  <a:lnTo>
                    <a:pt x="56708" y="409575"/>
                  </a:lnTo>
                  <a:lnTo>
                    <a:pt x="52759" y="409181"/>
                  </a:lnTo>
                  <a:lnTo>
                    <a:pt x="17774" y="391795"/>
                  </a:lnTo>
                  <a:lnTo>
                    <a:pt x="14956" y="388975"/>
                  </a:lnTo>
                  <a:lnTo>
                    <a:pt x="1165" y="360718"/>
                  </a:lnTo>
                  <a:lnTo>
                    <a:pt x="387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6210" y="4076287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3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9512" y="4034567"/>
            <a:ext cx="1985010" cy="1283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40" dirty="0">
                <a:solidFill>
                  <a:srgbClr val="262424"/>
                </a:solidFill>
                <a:latin typeface="Cambria"/>
                <a:cs typeface="Cambria"/>
              </a:rPr>
              <a:t>Educational</a:t>
            </a:r>
            <a:r>
              <a:rPr sz="1700" b="1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Tool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850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It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serves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as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educational tool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for</a:t>
            </a:r>
            <a:r>
              <a:rPr sz="1450" spc="-8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learning</a:t>
            </a:r>
            <a:r>
              <a:rPr sz="1450" spc="-7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about </a:t>
            </a:r>
            <a:r>
              <a:rPr sz="1450" spc="-25" dirty="0">
                <a:solidFill>
                  <a:srgbClr val="262424"/>
                </a:solidFill>
                <a:latin typeface="Calibri"/>
                <a:cs typeface="Calibri"/>
              </a:rPr>
              <a:t>different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2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species.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67125" y="4076700"/>
            <a:ext cx="419100" cy="419100"/>
            <a:chOff x="3667125" y="4076700"/>
            <a:chExt cx="419100" cy="419100"/>
          </a:xfrm>
        </p:grpSpPr>
        <p:sp>
          <p:nvSpPr>
            <p:cNvPr id="25" name="object 25"/>
            <p:cNvSpPr/>
            <p:nvPr/>
          </p:nvSpPr>
          <p:spPr>
            <a:xfrm>
              <a:off x="3671887" y="40814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56933" y="0"/>
                  </a:moveTo>
                  <a:lnTo>
                    <a:pt x="52641" y="0"/>
                  </a:lnTo>
                  <a:lnTo>
                    <a:pt x="44907" y="1536"/>
                  </a:lnTo>
                  <a:lnTo>
                    <a:pt x="12090" y="23469"/>
                  </a:lnTo>
                  <a:lnTo>
                    <a:pt x="0" y="52641"/>
                  </a:lnTo>
                  <a:lnTo>
                    <a:pt x="0" y="356933"/>
                  </a:lnTo>
                  <a:lnTo>
                    <a:pt x="23469" y="397484"/>
                  </a:lnTo>
                  <a:lnTo>
                    <a:pt x="52641" y="409574"/>
                  </a:lnTo>
                  <a:lnTo>
                    <a:pt x="356933" y="409574"/>
                  </a:lnTo>
                  <a:lnTo>
                    <a:pt x="397484" y="386105"/>
                  </a:lnTo>
                  <a:lnTo>
                    <a:pt x="409574" y="356933"/>
                  </a:lnTo>
                  <a:lnTo>
                    <a:pt x="409574" y="52641"/>
                  </a:lnTo>
                  <a:lnTo>
                    <a:pt x="386105" y="12090"/>
                  </a:lnTo>
                  <a:lnTo>
                    <a:pt x="356933" y="0"/>
                  </a:lnTo>
                  <a:close/>
                </a:path>
              </a:pathLst>
            </a:custGeom>
            <a:solidFill>
              <a:srgbClr val="F4D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6649" y="4086225"/>
              <a:ext cx="400049" cy="4000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71887" y="408146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48881"/>
                  </a:moveTo>
                  <a:lnTo>
                    <a:pt x="0" y="60693"/>
                  </a:lnTo>
                  <a:lnTo>
                    <a:pt x="0" y="56705"/>
                  </a:lnTo>
                  <a:lnTo>
                    <a:pt x="381" y="52755"/>
                  </a:lnTo>
                  <a:lnTo>
                    <a:pt x="1168" y="48856"/>
                  </a:lnTo>
                  <a:lnTo>
                    <a:pt x="1943" y="44945"/>
                  </a:lnTo>
                  <a:lnTo>
                    <a:pt x="3098" y="41148"/>
                  </a:lnTo>
                  <a:lnTo>
                    <a:pt x="17780" y="17780"/>
                  </a:lnTo>
                  <a:lnTo>
                    <a:pt x="20586" y="14960"/>
                  </a:lnTo>
                  <a:lnTo>
                    <a:pt x="56705" y="0"/>
                  </a:lnTo>
                  <a:lnTo>
                    <a:pt x="60693" y="0"/>
                  </a:lnTo>
                  <a:lnTo>
                    <a:pt x="348881" y="0"/>
                  </a:lnTo>
                  <a:lnTo>
                    <a:pt x="352869" y="0"/>
                  </a:lnTo>
                  <a:lnTo>
                    <a:pt x="356819" y="393"/>
                  </a:lnTo>
                  <a:lnTo>
                    <a:pt x="360718" y="1168"/>
                  </a:lnTo>
                  <a:lnTo>
                    <a:pt x="364629" y="1943"/>
                  </a:lnTo>
                  <a:lnTo>
                    <a:pt x="391795" y="17780"/>
                  </a:lnTo>
                  <a:lnTo>
                    <a:pt x="394614" y="20599"/>
                  </a:lnTo>
                  <a:lnTo>
                    <a:pt x="408406" y="48856"/>
                  </a:lnTo>
                  <a:lnTo>
                    <a:pt x="409194" y="52755"/>
                  </a:lnTo>
                  <a:lnTo>
                    <a:pt x="409575" y="56705"/>
                  </a:lnTo>
                  <a:lnTo>
                    <a:pt x="409575" y="60693"/>
                  </a:lnTo>
                  <a:lnTo>
                    <a:pt x="409575" y="348881"/>
                  </a:lnTo>
                  <a:lnTo>
                    <a:pt x="409575" y="352869"/>
                  </a:lnTo>
                  <a:lnTo>
                    <a:pt x="409194" y="356806"/>
                  </a:lnTo>
                  <a:lnTo>
                    <a:pt x="408406" y="360718"/>
                  </a:lnTo>
                  <a:lnTo>
                    <a:pt x="407631" y="364629"/>
                  </a:lnTo>
                  <a:lnTo>
                    <a:pt x="406476" y="368427"/>
                  </a:lnTo>
                  <a:lnTo>
                    <a:pt x="404952" y="372110"/>
                  </a:lnTo>
                  <a:lnTo>
                    <a:pt x="403428" y="375793"/>
                  </a:lnTo>
                  <a:lnTo>
                    <a:pt x="391795" y="391795"/>
                  </a:lnTo>
                  <a:lnTo>
                    <a:pt x="388988" y="394614"/>
                  </a:lnTo>
                  <a:lnTo>
                    <a:pt x="372110" y="404952"/>
                  </a:lnTo>
                  <a:lnTo>
                    <a:pt x="368427" y="406476"/>
                  </a:lnTo>
                  <a:lnTo>
                    <a:pt x="364629" y="407631"/>
                  </a:lnTo>
                  <a:lnTo>
                    <a:pt x="360730" y="408406"/>
                  </a:lnTo>
                  <a:lnTo>
                    <a:pt x="356819" y="409181"/>
                  </a:lnTo>
                  <a:lnTo>
                    <a:pt x="352869" y="409575"/>
                  </a:lnTo>
                  <a:lnTo>
                    <a:pt x="348881" y="409575"/>
                  </a:lnTo>
                  <a:lnTo>
                    <a:pt x="60693" y="409575"/>
                  </a:lnTo>
                  <a:lnTo>
                    <a:pt x="56705" y="409575"/>
                  </a:lnTo>
                  <a:lnTo>
                    <a:pt x="52755" y="409181"/>
                  </a:lnTo>
                  <a:lnTo>
                    <a:pt x="48844" y="408406"/>
                  </a:lnTo>
                  <a:lnTo>
                    <a:pt x="44945" y="407631"/>
                  </a:lnTo>
                  <a:lnTo>
                    <a:pt x="41148" y="406476"/>
                  </a:lnTo>
                  <a:lnTo>
                    <a:pt x="37465" y="404952"/>
                  </a:lnTo>
                  <a:lnTo>
                    <a:pt x="33782" y="403428"/>
                  </a:lnTo>
                  <a:lnTo>
                    <a:pt x="17780" y="391795"/>
                  </a:lnTo>
                  <a:lnTo>
                    <a:pt x="14960" y="388975"/>
                  </a:lnTo>
                  <a:lnTo>
                    <a:pt x="4622" y="372110"/>
                  </a:lnTo>
                  <a:lnTo>
                    <a:pt x="3098" y="368427"/>
                  </a:lnTo>
                  <a:lnTo>
                    <a:pt x="1943" y="364629"/>
                  </a:lnTo>
                  <a:lnTo>
                    <a:pt x="1168" y="360718"/>
                  </a:lnTo>
                  <a:lnTo>
                    <a:pt x="381" y="356806"/>
                  </a:lnTo>
                  <a:lnTo>
                    <a:pt x="0" y="352869"/>
                  </a:lnTo>
                  <a:lnTo>
                    <a:pt x="0" y="348881"/>
                  </a:lnTo>
                  <a:close/>
                </a:path>
              </a:pathLst>
            </a:custGeom>
            <a:ln w="9525">
              <a:solidFill>
                <a:srgbClr val="DAB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797007" y="4076287"/>
            <a:ext cx="1631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spc="-85" dirty="0">
                <a:solidFill>
                  <a:srgbClr val="262424"/>
                </a:solidFill>
                <a:latin typeface="Cambria"/>
                <a:cs typeface="Cambria"/>
              </a:rPr>
              <a:t>4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60310" y="4034567"/>
            <a:ext cx="2225675" cy="1588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50" dirty="0">
                <a:solidFill>
                  <a:srgbClr val="262424"/>
                </a:solidFill>
                <a:latin typeface="Cambria"/>
                <a:cs typeface="Cambria"/>
              </a:rPr>
              <a:t>Future</a:t>
            </a:r>
            <a:r>
              <a:rPr sz="1700" b="1" spc="-70" dirty="0">
                <a:solidFill>
                  <a:srgbClr val="262424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262424"/>
                </a:solidFill>
                <a:latin typeface="Cambria"/>
                <a:cs typeface="Cambria"/>
              </a:rPr>
              <a:t>Work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5100"/>
              </a:lnSpc>
              <a:spcBef>
                <a:spcPts val="825"/>
              </a:spcBef>
            </a:pP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Expand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the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system's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capabilities</a:t>
            </a:r>
            <a:r>
              <a:rPr sz="1450" spc="-7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to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identify</a:t>
            </a:r>
            <a:r>
              <a:rPr sz="1450" spc="-7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a</a:t>
            </a:r>
            <a:r>
              <a:rPr sz="1450" spc="50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wider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range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of</a:t>
            </a:r>
            <a:r>
              <a:rPr sz="1450" spc="-6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animal</a:t>
            </a:r>
            <a:r>
              <a:rPr sz="1450" spc="-6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species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and</a:t>
            </a:r>
            <a:r>
              <a:rPr sz="1450" spc="-55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improve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62424"/>
                </a:solidFill>
                <a:latin typeface="Calibri"/>
                <a:cs typeface="Calibri"/>
              </a:rPr>
              <a:t>its</a:t>
            </a:r>
            <a:r>
              <a:rPr sz="1450" spc="-50" dirty="0">
                <a:solidFill>
                  <a:srgbClr val="26242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Calibri"/>
                <a:cs typeface="Calibri"/>
              </a:rPr>
              <a:t>accuracy.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381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WildSense: Smart Species Detection</vt:lpstr>
      <vt:lpstr>Introduction</vt:lpstr>
      <vt:lpstr>Project Workflow</vt:lpstr>
      <vt:lpstr>Data Processing</vt:lpstr>
      <vt:lpstr>Model Training</vt:lpstr>
      <vt:lpstr>Real-Time Detection</vt:lpstr>
      <vt:lpstr>Technologies Used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WildSense: Smart Species Detection</dc:title>
  <cp:lastModifiedBy>Admin</cp:lastModifiedBy>
  <cp:revision>1</cp:revision>
  <dcterms:created xsi:type="dcterms:W3CDTF">2024-12-08T20:08:32Z</dcterms:created>
  <dcterms:modified xsi:type="dcterms:W3CDTF">2024-12-08T20:20:24Z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2024-12-08T00:00:00Z</vt:filetime>
  </property>
  <property fmtid="{D5CDD505-2E9C-101B-9397-08002B2CF9AE}" pid="5" name="Producer">
    <vt:lpwstr>GPL Ghostscript 10.02.0</vt:lpwstr>
  </property>
</Properties>
</file>